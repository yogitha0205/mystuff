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64" r:id="rId2"/>
    <p:sldId id="256" r:id="rId3"/>
    <p:sldId id="265" r:id="rId4"/>
    <p:sldId id="266" r:id="rId5"/>
    <p:sldId id="267" r:id="rId6"/>
    <p:sldId id="268" r:id="rId7"/>
    <p:sldId id="269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9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1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1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6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7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8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8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1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96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3681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40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9792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29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10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8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87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48" y="1182394"/>
            <a:ext cx="5069088" cy="2034516"/>
          </a:xfrm>
        </p:spPr>
        <p:txBody>
          <a:bodyPr>
            <a:normAutofit/>
          </a:bodyPr>
          <a:lstStyle/>
          <a:p>
            <a:r>
              <a:rPr lang="en-US" dirty="0" err="1" smtClean="0"/>
              <a:t>CypherCop</a:t>
            </a:r>
            <a:r>
              <a:rPr lang="en-US" dirty="0" smtClean="0"/>
              <a:t> </a:t>
            </a:r>
            <a:r>
              <a:rPr lang="en-US" dirty="0" err="1" smtClean="0"/>
              <a:t>Hackathon</a:t>
            </a:r>
            <a:r>
              <a:rPr lang="en-US" dirty="0" smtClean="0"/>
              <a:t> 2025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7109" y="2779414"/>
            <a:ext cx="4191158" cy="32683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Yogeshwar</a:t>
            </a:r>
            <a:r>
              <a:rPr lang="en-US" dirty="0" smtClean="0"/>
              <a:t> </a:t>
            </a:r>
            <a:r>
              <a:rPr lang="en-US" dirty="0" err="1" smtClean="0"/>
              <a:t>Bugide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Ashok Reddy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Palla</a:t>
            </a:r>
            <a:r>
              <a:rPr lang="en-US" dirty="0" smtClean="0"/>
              <a:t> </a:t>
            </a:r>
            <a:r>
              <a:rPr lang="en-US" dirty="0" err="1" smtClean="0"/>
              <a:t>Nagender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Ratnadeep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420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802" y="190123"/>
            <a:ext cx="6552311" cy="3775295"/>
          </a:xfrm>
        </p:spPr>
        <p:txBody>
          <a:bodyPr>
            <a:normAutofit/>
          </a:bodyPr>
          <a:lstStyle/>
          <a:p>
            <a:r>
              <a:rPr dirty="0"/>
              <a:t>How to Trace Illegal </a:t>
            </a:r>
            <a:r>
              <a:rPr dirty="0" smtClean="0"/>
              <a:t>Crypto</a:t>
            </a:r>
            <a:r>
              <a:rPr lang="en-US" dirty="0" smtClean="0"/>
              <a:t> </a:t>
            </a:r>
            <a:r>
              <a:rPr dirty="0" smtClean="0"/>
              <a:t>currency Transactions</a:t>
            </a:r>
            <a:r>
              <a:rPr lang="en-US" dirty="0" smtClean="0"/>
              <a:t> </a:t>
            </a:r>
            <a:r>
              <a:rPr lang="en-US" dirty="0" smtClean="0"/>
              <a:t>due </a:t>
            </a:r>
            <a:r>
              <a:rPr lang="en-US" dirty="0"/>
              <a:t>to pseudo-anonymity.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4224" y="4427143"/>
            <a:ext cx="4954250" cy="1149791"/>
          </a:xfrm>
        </p:spPr>
        <p:txBody>
          <a:bodyPr>
            <a:normAutofit/>
          </a:bodyPr>
          <a:lstStyle/>
          <a:p>
            <a:r>
              <a:rPr dirty="0"/>
              <a:t>Understanding Techniques, Tools &amp;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941" y="338171"/>
            <a:ext cx="57775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What is Crypto 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962" y="1020251"/>
            <a:ext cx="845593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Crypto currency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is a type of digital or virtual money that uses cryptography (advanced encryption) to secure transactions.</a:t>
            </a:r>
          </a:p>
          <a:p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🔑 Key Features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Decentralized – No central authority (like banks or governments) controls it. </a:t>
            </a:r>
            <a:r>
              <a:rPr lang="en-US" sz="2000" b="1" u="sng" dirty="0">
                <a:solidFill>
                  <a:schemeClr val="bg2">
                    <a:lumMod val="75000"/>
                  </a:schemeClr>
                </a:solidFill>
              </a:rPr>
              <a:t>Most run on </a:t>
            </a:r>
            <a:r>
              <a:rPr lang="en-US" sz="2000" b="1" u="sng" dirty="0" smtClean="0">
                <a:solidFill>
                  <a:schemeClr val="bg2">
                    <a:lumMod val="75000"/>
                  </a:schemeClr>
                </a:solidFill>
              </a:rPr>
              <a:t>block chain </a:t>
            </a:r>
            <a:r>
              <a:rPr lang="en-US" sz="2000" b="1" u="sng" dirty="0">
                <a:solidFill>
                  <a:schemeClr val="bg2">
                    <a:lumMod val="75000"/>
                  </a:schemeClr>
                </a:solidFill>
              </a:rPr>
              <a:t>(a distributed ledger).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Secure – Transactions are encrypted and verified by network participants (miners/validators).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Transparent – All transactions are recorded on the 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block chain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and can be viewed publicly.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Borderless – Can be sent/received anywhere in the world, 24/7.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Limited Supply – Many have a fixed supply (e.g., </a:t>
            </a:r>
            <a:r>
              <a:rPr lang="en-US" sz="2000" dirty="0" err="1" smtClean="0">
                <a:solidFill>
                  <a:schemeClr val="bg2">
                    <a:lumMod val="75000"/>
                  </a:schemeClr>
                </a:solidFill>
              </a:rPr>
              <a:t>Bitcoin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: 21 million max), making them resistant to inflation.</a:t>
            </a:r>
          </a:p>
        </p:txBody>
      </p:sp>
    </p:spTree>
    <p:extLst>
      <p:ext uri="{BB962C8B-B14F-4D97-AF65-F5344CB8AC3E}">
        <p14:creationId xmlns:p14="http://schemas.microsoft.com/office/powerpoint/2010/main" val="101737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1192" y="188036"/>
            <a:ext cx="778598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Examples of </a:t>
            </a:r>
            <a:r>
              <a:rPr lang="en-US" sz="3200" cap="all" dirty="0" err="1" smtClean="0">
                <a:ln w="3175" cmpd="sng">
                  <a:noFill/>
                </a:ln>
                <a:latin typeface="+mj-lt"/>
                <a:ea typeface="+mj-ea"/>
                <a:cs typeface="+mj-cs"/>
              </a:rPr>
              <a:t>Cryptocurrencies</a:t>
            </a:r>
            <a:endParaRPr lang="en-US" sz="3200" cap="all" dirty="0" smtClean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2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Bitcoin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(BTC): First and most widely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Ethereum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(ETH): Smart contracts and decentralized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Ripple (XRP),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Litecoin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(LTC),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Monero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(XMR),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Dogecoin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(DOGE)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34566" y="2831285"/>
            <a:ext cx="7407011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cap="all" dirty="0" smtClean="0">
                <a:ln w="3175" cmpd="sng">
                  <a:noFill/>
                </a:ln>
                <a:latin typeface="+mj-lt"/>
                <a:ea typeface="+mj-ea"/>
                <a:cs typeface="+mj-cs"/>
              </a:rPr>
              <a:t>Uses </a:t>
            </a:r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of </a:t>
            </a:r>
            <a:r>
              <a:rPr lang="en-US" sz="3200" cap="all" dirty="0" err="1" smtClean="0">
                <a:ln w="3175" cmpd="sng">
                  <a:noFill/>
                </a:ln>
                <a:latin typeface="+mj-lt"/>
                <a:ea typeface="+mj-ea"/>
                <a:cs typeface="+mj-cs"/>
              </a:rPr>
              <a:t>Cryptocurrency</a:t>
            </a:r>
            <a:endParaRPr lang="en-US" sz="3200" cap="all" dirty="0" smtClean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2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Online payments &amp; remittances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Investment &amp; trading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Decentralized Finance (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DeFi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NFTs (digital collectibles)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Sometimes misused for illegal activities (money laundering,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ransomware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darknet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markets)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45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168" y="10510"/>
            <a:ext cx="4572000" cy="21852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Blockchain</a:t>
            </a:r>
            <a:r>
              <a:rPr lang="en-US" b="1" dirty="0" smtClean="0"/>
              <a:t>?</a:t>
            </a:r>
          </a:p>
          <a:p>
            <a:endParaRPr lang="en-US" b="1" dirty="0"/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blockchain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is a digital ledger (like a database) that records transactions in a secure, transparent, and tamper-proof way.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140327" y="2195724"/>
            <a:ext cx="7473637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it Works (Step by Step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pPr lvl="1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Transaction Created 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→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Someone sends or receives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cryptocurrency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Block Formation → Transactions are grouped into a “block.”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Verification → Network participants (miners/validators) check if the transaction is valid.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Block Added → Once approved, the block is added to the chain of previous blocks.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Permanent Record → The transaction cannot be changed or deleted.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2327" y="-128765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Key Features of </a:t>
            </a:r>
            <a:r>
              <a:rPr lang="en-US" b="1" dirty="0" err="1" smtClean="0"/>
              <a:t>Blockchain</a:t>
            </a:r>
            <a:endParaRPr lang="en-US" b="1" dirty="0" smtClean="0"/>
          </a:p>
          <a:p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Decentralized – No single authority controls 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Immutable – Once data is added, it cannot be altered.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Transparent – Anyone can view the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blockchain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records.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Secure – Uses cryptography and consensus mechanisms.</a:t>
            </a:r>
          </a:p>
        </p:txBody>
      </p:sp>
    </p:spTree>
    <p:extLst>
      <p:ext uri="{BB962C8B-B14F-4D97-AF65-F5344CB8AC3E}">
        <p14:creationId xmlns:p14="http://schemas.microsoft.com/office/powerpoint/2010/main" val="1273290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861"/>
            <a:ext cx="890861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Crypto is Used in Illegal </a:t>
            </a:r>
            <a:r>
              <a:rPr lang="en-US" b="1" dirty="0" smtClean="0"/>
              <a:t>Activities</a:t>
            </a:r>
          </a:p>
          <a:p>
            <a:endParaRPr lang="en-US" b="1" dirty="0"/>
          </a:p>
          <a:p>
            <a:r>
              <a:rPr lang="en-US" b="1" dirty="0" smtClean="0"/>
              <a:t> </a:t>
            </a:r>
            <a:r>
              <a:rPr lang="en-US" b="1" dirty="0"/>
              <a:t>Money Laundering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Criminals use crypto to convert illegal cash into digital assets.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They move funds across wallets and mixers/tumblers to hide the source.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Eventually, they cash out via exchanges, prepaid cards, or peer-to-peer trades.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Example: Laundering drug money or corruption bribes.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542" y="2870941"/>
            <a:ext cx="87320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Ransomware</a:t>
            </a:r>
            <a:endParaRPr lang="en-US" b="1" dirty="0"/>
          </a:p>
          <a:p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Attackers lock a victim’s files and demand payment in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cryptocurrency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(usually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Bitcoin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or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Monero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Reasons: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Global reach – anyone can pay from anywhere.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Harder to trace than bank transfers.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Fast settlement – no intermediaries.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Example: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WannaCry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Ryuk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, and other major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ransomware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attacks.</a:t>
            </a:r>
          </a:p>
        </p:txBody>
      </p:sp>
    </p:spTree>
    <p:extLst>
      <p:ext uri="{BB962C8B-B14F-4D97-AF65-F5344CB8AC3E}">
        <p14:creationId xmlns:p14="http://schemas.microsoft.com/office/powerpoint/2010/main" val="419370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008" y="88519"/>
            <a:ext cx="905799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Darknet</a:t>
            </a:r>
            <a:r>
              <a:rPr lang="en-US" b="1" dirty="0"/>
              <a:t> </a:t>
            </a:r>
            <a:r>
              <a:rPr lang="en-US" b="1" dirty="0" smtClean="0"/>
              <a:t>Markets</a:t>
            </a:r>
          </a:p>
          <a:p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Darknet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sites (like Silk Road,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AlphaBay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) sell drugs, weapons, stolen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Cryptocurrencies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are the default payment method.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Benefits for criminals: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Pseudonymity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– wallet addresses not tied to real names.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Irreversible transactions – no chargebacks like with credit cards.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Easy cross-border trade without banks.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07" y="3346806"/>
            <a:ext cx="8831655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Criminals Prefer Crypto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🕵️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Pseudonymous (not fully anonymous, but harder to link to real identity).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🌍 Borderless (works across countries, no banking limits).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⚡ Fast &amp; Irreversible (once paid, it’s gone).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🔄 Obfuscation Tools (mixers, privacy coins, chain hopping).</a:t>
            </a:r>
          </a:p>
        </p:txBody>
      </p:sp>
    </p:spTree>
    <p:extLst>
      <p:ext uri="{BB962C8B-B14F-4D97-AF65-F5344CB8AC3E}">
        <p14:creationId xmlns:p14="http://schemas.microsoft.com/office/powerpoint/2010/main" val="160710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63" y="159190"/>
            <a:ext cx="6554867" cy="1524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Cryptocurrency</a:t>
            </a:r>
            <a:r>
              <a:rPr dirty="0"/>
              <a:t> offers anonymity and decentralization.</a:t>
            </a:r>
          </a:p>
          <a:p>
            <a:r>
              <a:rPr dirty="0"/>
              <a:t>• While beneficial, it is misused for illegal activities.</a:t>
            </a:r>
          </a:p>
          <a:p>
            <a:r>
              <a:rPr dirty="0"/>
              <a:t>• Tracing crypto transactions is vital for AML and crime prevention.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55" y="0"/>
            <a:ext cx="6554867" cy="1524000"/>
          </a:xfrm>
        </p:spPr>
        <p:txBody>
          <a:bodyPr/>
          <a:lstStyle/>
          <a:p>
            <a:r>
              <a:rPr dirty="0"/>
              <a:t>Why Tracing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Combat money laundering and terrorism financing.</a:t>
            </a:r>
          </a:p>
          <a:p>
            <a:r>
              <a:t>• Help law enforcement investigate ransomware and fraud.</a:t>
            </a:r>
          </a:p>
          <a:p>
            <a:r>
              <a:t>• Build trust in cryptocurrency ecosystems.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82" y="476061"/>
            <a:ext cx="6554867" cy="1524000"/>
          </a:xfrm>
        </p:spPr>
        <p:txBody>
          <a:bodyPr/>
          <a:lstStyle/>
          <a:p>
            <a:r>
              <a:rPr dirty="0"/>
              <a:t>Methods &amp; Tools for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582" y="1745850"/>
            <a:ext cx="6554867" cy="3767670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Blockchain</a:t>
            </a:r>
            <a:r>
              <a:rPr dirty="0"/>
              <a:t> explorers (</a:t>
            </a:r>
            <a:r>
              <a:rPr dirty="0" err="1"/>
              <a:t>Etherscan</a:t>
            </a:r>
            <a:r>
              <a:rPr dirty="0"/>
              <a:t>, Blockchain.com).</a:t>
            </a:r>
          </a:p>
          <a:p>
            <a:r>
              <a:rPr dirty="0"/>
              <a:t>• Chain analysis tools (</a:t>
            </a:r>
            <a:r>
              <a:rPr dirty="0" err="1"/>
              <a:t>Chainalysis</a:t>
            </a:r>
            <a:r>
              <a:rPr dirty="0"/>
              <a:t>, </a:t>
            </a:r>
            <a:r>
              <a:rPr dirty="0" err="1"/>
              <a:t>CipherTrace</a:t>
            </a:r>
            <a:r>
              <a:rPr dirty="0"/>
              <a:t>, Elliptic).</a:t>
            </a:r>
          </a:p>
          <a:p>
            <a:r>
              <a:rPr dirty="0"/>
              <a:t>• Open-source intelligence (OSINT).</a:t>
            </a:r>
          </a:p>
          <a:p>
            <a:r>
              <a:rPr dirty="0"/>
              <a:t>• Graph/network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89" y="23388"/>
            <a:ext cx="6554867" cy="1524000"/>
          </a:xfrm>
        </p:spPr>
        <p:txBody>
          <a:bodyPr/>
          <a:lstStyle/>
          <a:p>
            <a:r>
              <a:rPr dirty="0"/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Cluster analysis – grouping related addresses.</a:t>
            </a:r>
          </a:p>
          <a:p>
            <a:r>
              <a:rPr dirty="0"/>
              <a:t>• Detecting mixers/tumblers – obfuscation services.</a:t>
            </a:r>
          </a:p>
          <a:p>
            <a:r>
              <a:rPr dirty="0"/>
              <a:t>• Chain hopping – cross-chain transfers.</a:t>
            </a:r>
          </a:p>
          <a:p>
            <a:r>
              <a:rPr dirty="0"/>
              <a:t>• Peel chains – gradual fund transfers.</a:t>
            </a:r>
          </a:p>
          <a:p>
            <a:r>
              <a:rPr dirty="0"/>
              <a:t>• Transaction graph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17" y="5281"/>
            <a:ext cx="6554867" cy="1524000"/>
          </a:xfrm>
        </p:spPr>
        <p:txBody>
          <a:bodyPr/>
          <a:lstStyle/>
          <a:p>
            <a:r>
              <a:rPr dirty="0"/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Silk Road takedown – traced Bitcoin transactions.</a:t>
            </a:r>
          </a:p>
          <a:p>
            <a:r>
              <a:t>• Ransomware payments tracked to exchanges.</a:t>
            </a:r>
          </a:p>
          <a:p>
            <a:r>
              <a:t>• Darknet markets shut down with blockchain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5" y="122976"/>
            <a:ext cx="6554867" cy="1524000"/>
          </a:xfrm>
        </p:spPr>
        <p:txBody>
          <a:bodyPr/>
          <a:lstStyle/>
          <a:p>
            <a:r>
              <a:rPr dirty="0"/>
              <a:t>Challenges in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Pseudonymity of addresses.</a:t>
            </a:r>
          </a:p>
          <a:p>
            <a:r>
              <a:t>• Use of privacy coins (Monero, Zcash).</a:t>
            </a:r>
          </a:p>
          <a:p>
            <a:r>
              <a:t>• Mixing services and advanced obfuscation.</a:t>
            </a:r>
          </a:p>
          <a:p>
            <a:r>
              <a:t>• Jurisdictional and regulatory hurdles.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 tracing is essential for financial crime prevention.</a:t>
            </a:r>
          </a:p>
          <a:p>
            <a:r>
              <a:t>• Advances in AI and blockchain analytics improve detection.</a:t>
            </a:r>
          </a:p>
          <a:p>
            <a:r>
              <a:t>• Stronger regulations and global cooperation are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526</TotalTime>
  <Words>799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Slice</vt:lpstr>
      <vt:lpstr>CypherCop Hackathon 2025</vt:lpstr>
      <vt:lpstr>How to Trace Illegal Crypto currency Transactions due to pseudo-anonymity.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Why Tracing is Important</vt:lpstr>
      <vt:lpstr>Methods &amp; Tools for Tracing</vt:lpstr>
      <vt:lpstr>Key Techniques</vt:lpstr>
      <vt:lpstr>Case Studies</vt:lpstr>
      <vt:lpstr>Challenges in Tracing</vt:lpstr>
      <vt:lpstr>Conclusion &amp; Future Outlook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CypherCop Hackathon 2025</dc:title>
  <dc:subject/>
  <dc:creator/>
  <cp:keywords/>
  <dc:description>generated using python-pptx</dc:description>
  <cp:lastModifiedBy>DELL</cp:lastModifiedBy>
  <cp:revision>24</cp:revision>
  <dcterms:created xsi:type="dcterms:W3CDTF">2013-01-27T09:14:16Z</dcterms:created>
  <dcterms:modified xsi:type="dcterms:W3CDTF">2025-08-31T04:39:35Z</dcterms:modified>
  <cp:category/>
</cp:coreProperties>
</file>