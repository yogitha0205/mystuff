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How to Trace Illegal Cryptocurrency Transactions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Techniques, Tools &amp; Challenges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Cryptocurrency offers anonymity and decentralization.</a:t>
            </a:r>
          </a:p>
          <a:p>
            <a:r>
              <a:t>• While beneficial, it is misused for illegal activities.</a:t>
            </a:r>
          </a:p>
          <a:p>
            <a:r>
              <a:t>• Tracing crypto transactions is vital for AML and crime prevention.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Tracing is Important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Combat money laundering and terrorism financing.</a:t>
            </a:r>
          </a:p>
          <a:p>
            <a:r>
              <a:t>• Help law enforcement investigate ransomware and fraud.</a:t>
            </a:r>
          </a:p>
          <a:p>
            <a:r>
              <a:t>• Build trust in cryptocurrency ecosystems.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Methods &amp; Tools for Tracing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Blockchain explorers (Etherscan, Blockchain.com).</a:t>
            </a:r>
          </a:p>
          <a:p>
            <a:r>
              <a:t>• Chain analysis tools (Chainalysis, CipherTrace, Elliptic).</a:t>
            </a:r>
          </a:p>
          <a:p>
            <a:r>
              <a:t>• Open-source intelligence (OSINT).</a:t>
            </a:r>
          </a:p>
          <a:p>
            <a:r>
              <a:t>• Graph/network analysis.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828800"/>
            <a:ext cx="914400" cy="914400"/>
          </a:xfrm>
          <a:prstGeom prst="ellipse">
            <a:avLst/>
          </a:prstGeom>
          <a:solidFill>
            <a:srgbClr val="0066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828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Blockchain Explorers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3200400"/>
            <a:ext cx="914400" cy="914400"/>
          </a:xfrm>
          <a:prstGeom prst="ellipse">
            <a:avLst/>
          </a:prstGeom>
          <a:solidFill>
            <a:srgbClr val="00994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3200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Chain Analysis Tools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4572000"/>
            <a:ext cx="914400" cy="914400"/>
          </a:xfrm>
          <a:prstGeom prst="ellipse">
            <a:avLst/>
          </a:prstGeom>
          <a:solidFill>
            <a:srgbClr val="CC66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45720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OSINT &amp; Graph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Cluster analysis – grouping related addresses.</a:t>
            </a:r>
          </a:p>
          <a:p>
            <a:r>
              <a:t>• Detecting mixers/tumblers – obfuscation services.</a:t>
            </a:r>
          </a:p>
          <a:p>
            <a:r>
              <a:t>• Chain hopping – cross-chain transfers.</a:t>
            </a:r>
          </a:p>
          <a:p>
            <a:r>
              <a:t>• Peel chains – gradual fund transfers.</a:t>
            </a:r>
          </a:p>
          <a:p>
            <a:r>
              <a:t>• Transaction graph analysis.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828800"/>
            <a:ext cx="914400" cy="914400"/>
          </a:xfrm>
          <a:prstGeom prst="ellipse">
            <a:avLst/>
          </a:prstGeom>
          <a:solidFill>
            <a:srgbClr val="6600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828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Cluster Analysis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3200400"/>
            <a:ext cx="914400" cy="914400"/>
          </a:xfrm>
          <a:prstGeom prst="ellipse">
            <a:avLst/>
          </a:prstGeom>
          <a:solidFill>
            <a:srgbClr val="CC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3200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Mixers/Tumblers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4572000"/>
            <a:ext cx="914400" cy="914400"/>
          </a:xfrm>
          <a:prstGeom prst="ellipse">
            <a:avLst/>
          </a:prstGeom>
          <a:solidFill>
            <a:srgbClr val="00999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45720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Peel Chains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Silk Road takedown – traced Bitcoin transactions.</a:t>
            </a:r>
          </a:p>
          <a:p>
            <a:r>
              <a:t>• Ransomware payments tracked to exchanges.</a:t>
            </a:r>
          </a:p>
          <a:p>
            <a:r>
              <a:t>• Darknet markets shut down with blockchain analysis.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in Tracing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Pseudonymity of addresses.</a:t>
            </a:r>
          </a:p>
          <a:p>
            <a:r>
              <a:t>• Use of privacy coins (Monero, Zcash).</a:t>
            </a:r>
          </a:p>
          <a:p>
            <a:r>
              <a:t>• Mixing services and advanced obfuscation.</a:t>
            </a:r>
          </a:p>
          <a:p>
            <a:r>
              <a:t>• Jurisdictional and regulatory hurdles.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828800"/>
            <a:ext cx="914400" cy="914400"/>
          </a:xfrm>
          <a:prstGeom prst="ellipse">
            <a:avLst/>
          </a:prstGeom>
          <a:solidFill>
            <a:srgbClr val="33333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828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Privacy Coins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3200400"/>
            <a:ext cx="914400" cy="914400"/>
          </a:xfrm>
          <a:prstGeom prst="ellipse">
            <a:avLst/>
          </a:prstGeom>
          <a:solidFill>
            <a:srgbClr val="FF99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3200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Jurisdiction Issues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4572000"/>
            <a:ext cx="914400" cy="914400"/>
          </a:xfrm>
          <a:prstGeom prst="ellipse">
            <a:avLst/>
          </a:prstGeom>
          <a:solidFill>
            <a:srgbClr val="00666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45720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Advanced Obfuscation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Crypto tracing is essential for financial crime prevention.</a:t>
            </a:r>
          </a:p>
          <a:p>
            <a:r>
              <a:t>• Advances in AI and blockchain analytics improve detection.</a:t>
            </a:r>
          </a:p>
          <a:p>
            <a:r>
              <a:t>• Stronger regulations and global cooperation are 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